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DM Serif Display" panose="020B0604020202020204" charset="0"/>
      <p:regular r:id="rId15"/>
    </p:embeddedFont>
    <p:embeddedFont>
      <p:font typeface="DM Serif Display Italics" panose="020B0604020202020204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46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4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12190" y="1229445"/>
            <a:ext cx="17263621" cy="432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82"/>
              </a:lnSpc>
            </a:pPr>
            <a:r>
              <a:rPr lang="en-US" sz="820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IoT-Enabled Neonatal Bilirubin Monitor &amp; Automated Phototherapy System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80543" y="6094817"/>
            <a:ext cx="9926914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 NON-INVASIVE APPROACH TO JAUNDICE CARE (PROTOTYPE)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71329" y="7955987"/>
            <a:ext cx="2945342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Mayank Singh Harsh Sharma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18762" y="9151620"/>
            <a:ext cx="345047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TECH EXPO - 2K25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8174577" y="2542549"/>
            <a:ext cx="8307875" cy="1086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Neo</a:t>
            </a:r>
            <a:r>
              <a:rPr lang="en-US" sz="2799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natal Jaundice affects 60% of term babies and 80% of preterm babies.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783262" y="2674320"/>
            <a:ext cx="909958" cy="90995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810680" y="2772429"/>
            <a:ext cx="817023" cy="608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20"/>
              </a:lnSpc>
            </a:pPr>
            <a:r>
              <a:rPr lang="en-US" sz="32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74577" y="4092891"/>
            <a:ext cx="8307875" cy="1086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</a:t>
            </a:r>
            <a:r>
              <a:rPr lang="en-US" sz="2799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raditional detection requires frequent blood tests (heel pricks), causing pain and trauma.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783262" y="4233542"/>
            <a:ext cx="909958" cy="90995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820205" y="4322126"/>
            <a:ext cx="817023" cy="608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20"/>
              </a:lnSpc>
            </a:pPr>
            <a:r>
              <a:rPr lang="en-US" sz="32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174577" y="5671340"/>
            <a:ext cx="8307875" cy="1086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</a:t>
            </a:r>
            <a:r>
              <a:rPr lang="en-US" sz="2799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abs take time; high bilirubin can lead to brain damage (Kernicterus).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783262" y="5811991"/>
            <a:ext cx="909958" cy="909958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829730" y="5923435"/>
            <a:ext cx="817023" cy="608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20"/>
              </a:lnSpc>
            </a:pPr>
            <a:r>
              <a:rPr lang="en-US" sz="32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66399" y="1233825"/>
            <a:ext cx="3822789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Problem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71125" y="9151620"/>
            <a:ext cx="345047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3</a:t>
            </a:r>
          </a:p>
        </p:txBody>
      </p:sp>
      <p:sp>
        <p:nvSpPr>
          <p:cNvPr id="20" name="AutoShape 20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1" name="Group 21"/>
          <p:cNvGrpSpPr/>
          <p:nvPr/>
        </p:nvGrpSpPr>
        <p:grpSpPr>
          <a:xfrm>
            <a:off x="6783262" y="7331550"/>
            <a:ext cx="909958" cy="909958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6829730" y="7445850"/>
            <a:ext cx="817023" cy="608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20"/>
              </a:lnSpc>
            </a:pPr>
            <a:r>
              <a:rPr lang="en-US" sz="32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174577" y="7190899"/>
            <a:ext cx="8307875" cy="1086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</a:t>
            </a:r>
            <a:r>
              <a:rPr lang="en-US" sz="2799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arents/Nurses must manually check babies and turn on lights.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1166399" y="3491019"/>
            <a:ext cx="5026555" cy="5026555"/>
            <a:chOff x="0" y="0"/>
            <a:chExt cx="4489857" cy="448985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89857" cy="4489857"/>
            </a:xfrm>
            <a:custGeom>
              <a:avLst/>
              <a:gdLst/>
              <a:ahLst/>
              <a:cxnLst/>
              <a:rect l="l" t="t" r="r" b="b"/>
              <a:pathLst>
                <a:path w="4489857" h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6630723" y="3491019"/>
            <a:ext cx="5026555" cy="5026555"/>
            <a:chOff x="0" y="0"/>
            <a:chExt cx="4489857" cy="448985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89857" cy="4489857"/>
            </a:xfrm>
            <a:custGeom>
              <a:avLst/>
              <a:gdLst/>
              <a:ahLst/>
              <a:cxnLst/>
              <a:rect l="l" t="t" r="r" b="b"/>
              <a:pathLst>
                <a:path w="4489857" h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095047" y="3491019"/>
            <a:ext cx="5026555" cy="5026555"/>
            <a:chOff x="0" y="0"/>
            <a:chExt cx="4489857" cy="448985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89857" cy="4489857"/>
            </a:xfrm>
            <a:custGeom>
              <a:avLst/>
              <a:gdLst/>
              <a:ahLst/>
              <a:cxnLst/>
              <a:rect l="l" t="t" r="r" b="b"/>
              <a:pathLst>
                <a:path w="4489857" h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3926777" y="4318533"/>
            <a:ext cx="1363095" cy="1215337"/>
          </a:xfrm>
          <a:custGeom>
            <a:avLst/>
            <a:gdLst/>
            <a:ahLst/>
            <a:cxnLst/>
            <a:rect l="l" t="t" r="r" b="b"/>
            <a:pathLst>
              <a:path w="1363095" h="1215337">
                <a:moveTo>
                  <a:pt x="0" y="0"/>
                </a:moveTo>
                <a:lnTo>
                  <a:pt x="1363095" y="0"/>
                </a:lnTo>
                <a:lnTo>
                  <a:pt x="1363095" y="1215337"/>
                </a:lnTo>
                <a:lnTo>
                  <a:pt x="0" y="12153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2949943" y="4318533"/>
            <a:ext cx="1459466" cy="1215337"/>
          </a:xfrm>
          <a:custGeom>
            <a:avLst/>
            <a:gdLst/>
            <a:ahLst/>
            <a:cxnLst/>
            <a:rect l="l" t="t" r="r" b="b"/>
            <a:pathLst>
              <a:path w="1459466" h="1215337">
                <a:moveTo>
                  <a:pt x="0" y="0"/>
                </a:moveTo>
                <a:lnTo>
                  <a:pt x="1459466" y="0"/>
                </a:lnTo>
                <a:lnTo>
                  <a:pt x="1459466" y="1215337"/>
                </a:lnTo>
                <a:lnTo>
                  <a:pt x="0" y="12153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409524" y="3950016"/>
            <a:ext cx="1468952" cy="1838071"/>
          </a:xfrm>
          <a:custGeom>
            <a:avLst/>
            <a:gdLst/>
            <a:ahLst/>
            <a:cxnLst/>
            <a:rect l="l" t="t" r="r" b="b"/>
            <a:pathLst>
              <a:path w="1468952" h="1838071">
                <a:moveTo>
                  <a:pt x="0" y="0"/>
                </a:moveTo>
                <a:lnTo>
                  <a:pt x="1468952" y="0"/>
                </a:lnTo>
                <a:lnTo>
                  <a:pt x="1468952" y="1838071"/>
                </a:lnTo>
                <a:lnTo>
                  <a:pt x="0" y="1838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166399" y="1233825"/>
            <a:ext cx="3822789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Solution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79040" y="6042345"/>
            <a:ext cx="4801271" cy="1645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60"/>
              </a:lnSpc>
            </a:pPr>
            <a:r>
              <a:rPr lang="en-US" sz="21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Replaces</a:t>
            </a:r>
            <a:r>
              <a:rPr lang="en-US" sz="21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painful blood sampling (heel pricks) with painless, instant optical skin analysis using the TCS34725 Color Sensor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671125" y="9151620"/>
            <a:ext cx="345047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005583" y="6042345"/>
            <a:ext cx="4276833" cy="2065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60"/>
              </a:lnSpc>
            </a:pPr>
            <a:r>
              <a:rPr lang="en-US" sz="21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 smart</a:t>
            </a:r>
            <a:r>
              <a:rPr lang="en-US" sz="21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control system that automatically activates blue phototherapy lights only when bilirubin levels exceed the safety threshold (Score &gt; 10.0)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469907" y="6042345"/>
            <a:ext cx="4276833" cy="1645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60"/>
              </a:lnSpc>
            </a:pPr>
            <a:r>
              <a:rPr lang="en-US" sz="21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Enab</a:t>
            </a:r>
            <a:r>
              <a:rPr lang="en-US" sz="21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les doctors and parents to track ECG waveforms, SpO2 levels, and therapy status remotely via a live WiFi Web Dashboard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166399" y="1233825"/>
            <a:ext cx="10399168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Roadmap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671125" y="9151620"/>
            <a:ext cx="345047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10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18899" y="2928479"/>
            <a:ext cx="3440951" cy="608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20"/>
              </a:lnSpc>
              <a:spcBef>
                <a:spcPct val="0"/>
              </a:spcBef>
            </a:pPr>
            <a:r>
              <a:rPr lang="en-US" sz="32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Phase 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18899" y="3679049"/>
            <a:ext cx="3237203" cy="944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Hardware Assembly &amp; Sensor Validation</a:t>
            </a:r>
          </a:p>
        </p:txBody>
      </p:sp>
      <p:sp>
        <p:nvSpPr>
          <p:cNvPr id="8" name="AutoShape 8"/>
          <p:cNvSpPr/>
          <p:nvPr/>
        </p:nvSpPr>
        <p:spPr>
          <a:xfrm>
            <a:off x="1175924" y="5715000"/>
            <a:ext cx="1593615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747424" y="3785659"/>
            <a:ext cx="0" cy="194070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5720345" y="7019925"/>
            <a:ext cx="3440951" cy="608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20"/>
              </a:lnSpc>
              <a:spcBef>
                <a:spcPct val="0"/>
              </a:spcBef>
            </a:pPr>
            <a:r>
              <a:rPr lang="en-US" sz="32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Phase 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720345" y="7770495"/>
            <a:ext cx="3237203" cy="944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Firmware Logic &amp; Algorithm Integration</a:t>
            </a:r>
          </a:p>
        </p:txBody>
      </p:sp>
      <p:sp>
        <p:nvSpPr>
          <p:cNvPr id="12" name="AutoShape 12"/>
          <p:cNvSpPr/>
          <p:nvPr/>
        </p:nvSpPr>
        <p:spPr>
          <a:xfrm>
            <a:off x="5348870" y="5684662"/>
            <a:ext cx="0" cy="194070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3" name="TextBox 13"/>
          <p:cNvSpPr txBox="1"/>
          <p:nvPr/>
        </p:nvSpPr>
        <p:spPr>
          <a:xfrm>
            <a:off x="10079204" y="2928479"/>
            <a:ext cx="3440951" cy="608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20"/>
              </a:lnSpc>
              <a:spcBef>
                <a:spcPct val="0"/>
              </a:spcBef>
            </a:pPr>
            <a:r>
              <a:rPr lang="en-US" sz="32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Phase 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79204" y="3679049"/>
            <a:ext cx="3237203" cy="944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IoT Dashboard &amp; Cloud Connectivity</a:t>
            </a:r>
          </a:p>
        </p:txBody>
      </p:sp>
      <p:sp>
        <p:nvSpPr>
          <p:cNvPr id="15" name="AutoShape 15"/>
          <p:cNvSpPr/>
          <p:nvPr/>
        </p:nvSpPr>
        <p:spPr>
          <a:xfrm>
            <a:off x="9707729" y="3785659"/>
            <a:ext cx="0" cy="194070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13680650" y="7019925"/>
            <a:ext cx="3440951" cy="608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20"/>
              </a:lnSpc>
              <a:spcBef>
                <a:spcPct val="0"/>
              </a:spcBef>
            </a:pPr>
            <a:r>
              <a:rPr lang="en-US" sz="32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Phase 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680650" y="7770495"/>
            <a:ext cx="3237203" cy="944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Final Polish &amp; Expo Presentation</a:t>
            </a:r>
          </a:p>
        </p:txBody>
      </p:sp>
      <p:sp>
        <p:nvSpPr>
          <p:cNvPr id="18" name="AutoShape 18"/>
          <p:cNvSpPr/>
          <p:nvPr/>
        </p:nvSpPr>
        <p:spPr>
          <a:xfrm>
            <a:off x="13309175" y="5684662"/>
            <a:ext cx="0" cy="194070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9144000" y="0"/>
            <a:ext cx="9144000" cy="10287000"/>
          </a:xfrm>
          <a:custGeom>
            <a:avLst/>
            <a:gdLst/>
            <a:ahLst/>
            <a:cxnLst/>
            <a:rect l="l" t="t" r="r" b="b"/>
            <a:pathLst>
              <a:path w="9144000" h="10287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3416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66399" y="1205250"/>
            <a:ext cx="8119144" cy="2218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System Architecture (Block Diagram)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671125" y="9151620"/>
            <a:ext cx="345047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730635"/>
            <a:ext cx="6860034" cy="2302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0"/>
              </a:lnSpc>
            </a:pPr>
            <a:r>
              <a:rPr lang="en-US" sz="23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I</a:t>
            </a:r>
            <a:r>
              <a:rPr lang="en-US" sz="23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nput Layer (Sensors) :</a:t>
            </a:r>
          </a:p>
          <a:p>
            <a:pPr marL="496572" lvl="1" indent="-248286" algn="l">
              <a:lnSpc>
                <a:spcPts val="3680"/>
              </a:lnSpc>
              <a:buFont typeface="Arial"/>
              <a:buChar char="•"/>
            </a:pPr>
            <a:r>
              <a:rPr lang="en-US" sz="23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TCS34725 (Skin Color/Bilirubin)</a:t>
            </a:r>
          </a:p>
          <a:p>
            <a:pPr marL="496572" lvl="1" indent="-248286" algn="l">
              <a:lnSpc>
                <a:spcPts val="3680"/>
              </a:lnSpc>
              <a:buFont typeface="Arial"/>
              <a:buChar char="•"/>
            </a:pPr>
            <a:r>
              <a:rPr lang="en-US" sz="23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MAX30105 (SpO2 &amp; Heart Rate)</a:t>
            </a:r>
          </a:p>
          <a:p>
            <a:pPr marL="496572" lvl="1" indent="-248286" algn="l">
              <a:lnSpc>
                <a:spcPts val="3680"/>
              </a:lnSpc>
              <a:buFont typeface="Arial"/>
              <a:buChar char="•"/>
            </a:pPr>
            <a:r>
              <a:rPr lang="en-US" sz="23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AD8232 (ECG Signals)</a:t>
            </a:r>
          </a:p>
          <a:p>
            <a:pPr marL="496572" lvl="1" indent="-248286" algn="l">
              <a:lnSpc>
                <a:spcPts val="3680"/>
              </a:lnSpc>
              <a:buFont typeface="Arial"/>
              <a:buChar char="•"/>
            </a:pPr>
            <a:r>
              <a:rPr lang="en-US" sz="23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DHT11 (Room Temp/Humidity)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6173469"/>
            <a:ext cx="6860034" cy="902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0"/>
              </a:lnSpc>
            </a:pPr>
            <a:r>
              <a:rPr lang="en-US" sz="23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Processi</a:t>
            </a:r>
            <a:r>
              <a:rPr lang="en-US" sz="23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ng Layer:</a:t>
            </a:r>
          </a:p>
          <a:p>
            <a:pPr marL="496572" lvl="1" indent="-248286" algn="l">
              <a:lnSpc>
                <a:spcPts val="3680"/>
              </a:lnSpc>
              <a:buFont typeface="Arial"/>
              <a:buChar char="•"/>
            </a:pPr>
            <a:r>
              <a:rPr lang="en-US" sz="23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ESP32 (Dual Core) running custom algorithms.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7319009"/>
            <a:ext cx="6860034" cy="1835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0"/>
              </a:lnSpc>
            </a:pPr>
            <a:r>
              <a:rPr lang="en-US" sz="23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Output</a:t>
            </a:r>
            <a:r>
              <a:rPr lang="en-US" sz="23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Layer:</a:t>
            </a:r>
          </a:p>
          <a:p>
            <a:pPr marL="496572" lvl="1" indent="-248286" algn="l">
              <a:lnSpc>
                <a:spcPts val="3680"/>
              </a:lnSpc>
              <a:buFont typeface="Arial"/>
              <a:buChar char="•"/>
            </a:pPr>
            <a:r>
              <a:rPr lang="en-US" sz="23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OLED Display (Local View)</a:t>
            </a:r>
          </a:p>
          <a:p>
            <a:pPr marL="496572" lvl="1" indent="-248286" algn="l">
              <a:lnSpc>
                <a:spcPts val="3680"/>
              </a:lnSpc>
              <a:buFont typeface="Arial"/>
              <a:buChar char="•"/>
            </a:pPr>
            <a:r>
              <a:rPr lang="en-US" sz="23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Solid State Relay (Therapy Lights)</a:t>
            </a:r>
          </a:p>
          <a:p>
            <a:pPr marL="496572" lvl="1" indent="-248286" algn="l">
              <a:lnSpc>
                <a:spcPts val="3680"/>
              </a:lnSpc>
              <a:buFont typeface="Arial"/>
              <a:buChar char="•"/>
            </a:pPr>
            <a:r>
              <a:rPr lang="en-US" sz="23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Web Dashboard (Remote View)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6119231" y="1477572"/>
            <a:ext cx="3345981" cy="3345981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000" y="0"/>
                  </a:moveTo>
                  <a:lnTo>
                    <a:pt x="685800" y="0"/>
                  </a:lnTo>
                  <a:cubicBezTo>
                    <a:pt x="719482" y="0"/>
                    <a:pt x="751785" y="13380"/>
                    <a:pt x="775603" y="37197"/>
                  </a:cubicBezTo>
                  <a:cubicBezTo>
                    <a:pt x="799420" y="61015"/>
                    <a:pt x="812800" y="93318"/>
                    <a:pt x="812800" y="127000"/>
                  </a:cubicBezTo>
                  <a:lnTo>
                    <a:pt x="812800" y="685800"/>
                  </a:lnTo>
                  <a:cubicBezTo>
                    <a:pt x="812800" y="719482"/>
                    <a:pt x="799420" y="751785"/>
                    <a:pt x="775603" y="775603"/>
                  </a:cubicBezTo>
                  <a:cubicBezTo>
                    <a:pt x="751785" y="799420"/>
                    <a:pt x="719482" y="812800"/>
                    <a:pt x="685800" y="812800"/>
                  </a:cubicBezTo>
                  <a:lnTo>
                    <a:pt x="127000" y="812800"/>
                  </a:lnTo>
                  <a:cubicBezTo>
                    <a:pt x="93318" y="812800"/>
                    <a:pt x="61015" y="799420"/>
                    <a:pt x="37197" y="775603"/>
                  </a:cubicBezTo>
                  <a:cubicBezTo>
                    <a:pt x="13380" y="751785"/>
                    <a:pt x="0" y="719482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941463" y="5995819"/>
            <a:ext cx="3345981" cy="334598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43106" tIns="43106" rIns="43106" bIns="43106" rtlCol="0" anchor="ctr"/>
            <a:lstStyle/>
            <a:p>
              <a:pPr algn="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941463" y="1477572"/>
            <a:ext cx="3345981" cy="334598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763694" y="1477572"/>
            <a:ext cx="3345981" cy="334598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6521875" y="1802928"/>
            <a:ext cx="2622125" cy="2622125"/>
          </a:xfrm>
          <a:custGeom>
            <a:avLst/>
            <a:gdLst/>
            <a:ahLst/>
            <a:cxnLst/>
            <a:rect l="l" t="t" r="r" b="b"/>
            <a:pathLst>
              <a:path w="2622125" h="2622125">
                <a:moveTo>
                  <a:pt x="0" y="0"/>
                </a:moveTo>
                <a:lnTo>
                  <a:pt x="2622125" y="0"/>
                </a:lnTo>
                <a:lnTo>
                  <a:pt x="2622125" y="2622125"/>
                </a:lnTo>
                <a:lnTo>
                  <a:pt x="0" y="2622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0385177" y="1921286"/>
            <a:ext cx="2458553" cy="2458553"/>
          </a:xfrm>
          <a:custGeom>
            <a:avLst/>
            <a:gdLst/>
            <a:ahLst/>
            <a:cxnLst/>
            <a:rect l="l" t="t" r="r" b="b"/>
            <a:pathLst>
              <a:path w="2458553" h="2458553">
                <a:moveTo>
                  <a:pt x="0" y="0"/>
                </a:moveTo>
                <a:lnTo>
                  <a:pt x="2458552" y="0"/>
                </a:lnTo>
                <a:lnTo>
                  <a:pt x="2458552" y="2458553"/>
                </a:lnTo>
                <a:lnTo>
                  <a:pt x="0" y="24585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4202864" y="1957413"/>
            <a:ext cx="2467640" cy="2467640"/>
          </a:xfrm>
          <a:custGeom>
            <a:avLst/>
            <a:gdLst/>
            <a:ahLst/>
            <a:cxnLst/>
            <a:rect l="l" t="t" r="r" b="b"/>
            <a:pathLst>
              <a:path w="2467640" h="2467640">
                <a:moveTo>
                  <a:pt x="0" y="0"/>
                </a:moveTo>
                <a:lnTo>
                  <a:pt x="2467640" y="0"/>
                </a:lnTo>
                <a:lnTo>
                  <a:pt x="2467640" y="2467640"/>
                </a:lnTo>
                <a:lnTo>
                  <a:pt x="0" y="24676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0342848" y="6397204"/>
            <a:ext cx="2543210" cy="2543210"/>
          </a:xfrm>
          <a:custGeom>
            <a:avLst/>
            <a:gdLst/>
            <a:ahLst/>
            <a:cxnLst/>
            <a:rect l="l" t="t" r="r" b="b"/>
            <a:pathLst>
              <a:path w="2543210" h="2543210">
                <a:moveTo>
                  <a:pt x="0" y="0"/>
                </a:moveTo>
                <a:lnTo>
                  <a:pt x="2543210" y="0"/>
                </a:lnTo>
                <a:lnTo>
                  <a:pt x="2543210" y="2543211"/>
                </a:lnTo>
                <a:lnTo>
                  <a:pt x="0" y="25432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166399" y="1233825"/>
            <a:ext cx="4952833" cy="3352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Key Hardware Components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671125" y="9151620"/>
            <a:ext cx="345047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385456" y="4904082"/>
            <a:ext cx="2813532" cy="850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2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ESP32 D</a:t>
            </a:r>
            <a:r>
              <a:rPr lang="en-US" sz="22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evKit V1 (Dual-core, WiFi + Bluetooth)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181113" y="9480230"/>
            <a:ext cx="2866680" cy="41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20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So</a:t>
            </a:r>
            <a:r>
              <a:rPr lang="en-US" sz="2200" u="none" strike="noStrike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lid State Relay (SSR)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07687" y="5057775"/>
            <a:ext cx="2813532" cy="41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2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TC</a:t>
            </a:r>
            <a:r>
              <a:rPr lang="en-US" sz="22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S34725 RGB Sensor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66846" y="5043805"/>
            <a:ext cx="3539676" cy="41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20"/>
              </a:lnSpc>
            </a:pPr>
            <a:r>
              <a:rPr lang="en-US" sz="22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MAX30105 (Pul</a:t>
            </a:r>
            <a:r>
              <a:rPr lang="en-US" sz="2200" u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se Oximetry)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166399" y="1233825"/>
            <a:ext cx="12346504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Technical Challenges &amp; Solutions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671125" y="9151620"/>
            <a:ext cx="345047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6230" y="3222972"/>
            <a:ext cx="1639369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  <a:spcBef>
                <a:spcPct val="0"/>
              </a:spcBef>
            </a:pPr>
            <a:r>
              <a:rPr lang="en-US" sz="2699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Challenge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61565" y="3222972"/>
            <a:ext cx="3379011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  <a:spcBef>
                <a:spcPct val="0"/>
              </a:spcBef>
            </a:pPr>
            <a:r>
              <a:rPr lang="en-US" sz="2699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Solution Implemented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48074" y="4365338"/>
            <a:ext cx="2180925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  <a:spcBef>
                <a:spcPct val="0"/>
              </a:spcBef>
            </a:pPr>
            <a:r>
              <a:rPr lang="en-US" sz="2499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Sensor Conflict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30036" y="6325129"/>
            <a:ext cx="2884763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  <a:spcBef>
                <a:spcPct val="0"/>
              </a:spcBef>
            </a:pPr>
            <a:r>
              <a:rPr lang="en-US" sz="2499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Real-time Graphing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9322" y="8026929"/>
            <a:ext cx="2209677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Therapy Safety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61565" y="4327238"/>
            <a:ext cx="8707845" cy="1482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Used Two Separate I2C Buses (Wire &amp; Wire1) to handle multiple sensors (OLED, MAX30105, TCS34725) simultaneously without address crashes.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61565" y="6306079"/>
            <a:ext cx="8856101" cy="977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Implemented a Circular Buffer algorithm to stream 200 data points/sec for smooth SVG ECG visualization.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61565" y="7941204"/>
            <a:ext cx="9788303" cy="977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Added a Threshold Logic (Score &gt; 10.0) to prevent accidental UV exposure; system auto-shuts off when levels drop.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166399" y="1233825"/>
            <a:ext cx="10399168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The Algorithm (Logic Flow)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671125" y="9151620"/>
            <a:ext cx="345047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66399" y="3092217"/>
            <a:ext cx="12177534" cy="5044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2325" lvl="1" indent="-341162" algn="l">
              <a:lnSpc>
                <a:spcPts val="5056"/>
              </a:lnSpc>
              <a:buAutoNum type="arabicPeriod"/>
            </a:pPr>
            <a:r>
              <a:rPr lang="en-US" sz="316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Data Acquisition: ESP32 polls TCS34725 color sensor every 50ms.</a:t>
            </a:r>
          </a:p>
          <a:p>
            <a:pPr marL="682325" lvl="1" indent="-341162" algn="l">
              <a:lnSpc>
                <a:spcPts val="5056"/>
              </a:lnSpc>
              <a:buAutoNum type="arabicPeriod"/>
            </a:pPr>
            <a:r>
              <a:rPr lang="en-US" sz="316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Processing:</a:t>
            </a:r>
          </a:p>
          <a:p>
            <a:pPr marL="1364650" lvl="2" indent="-454883" algn="l">
              <a:lnSpc>
                <a:spcPts val="5056"/>
              </a:lnSpc>
              <a:buFont typeface="Arial"/>
              <a:buChar char="⚬"/>
            </a:pPr>
            <a:r>
              <a:rPr lang="en-US" sz="316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Reads R, G, B values.</a:t>
            </a:r>
          </a:p>
          <a:p>
            <a:pPr marL="1364650" lvl="2" indent="-454883" algn="l">
              <a:lnSpc>
                <a:spcPts val="5056"/>
              </a:lnSpc>
              <a:buFont typeface="Arial"/>
              <a:buChar char="⚬"/>
            </a:pPr>
            <a:r>
              <a:rPr lang="en-US" sz="316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Calculates Yellowness Index: </a:t>
            </a:r>
            <a:r>
              <a:rPr lang="en-US" sz="3160" i="1">
                <a:solidFill>
                  <a:srgbClr val="000000"/>
                </a:solidFill>
                <a:latin typeface="DM Serif Display Italics"/>
                <a:ea typeface="DM Serif Display Italics"/>
                <a:cs typeface="DM Serif Display Italics"/>
                <a:sym typeface="DM Serif Display Italics"/>
              </a:rPr>
              <a:t>(Red + Green) / Blue</a:t>
            </a:r>
            <a:r>
              <a:rPr lang="en-US" sz="316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.</a:t>
            </a:r>
          </a:p>
          <a:p>
            <a:pPr marL="1364650" lvl="2" indent="-454883" algn="l">
              <a:lnSpc>
                <a:spcPts val="5056"/>
              </a:lnSpc>
              <a:buFont typeface="Arial"/>
              <a:buChar char="⚬"/>
            </a:pPr>
            <a:r>
              <a:rPr lang="en-US" sz="316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Maps index to a Bilirubin Score (0-20).</a:t>
            </a:r>
          </a:p>
          <a:p>
            <a:pPr marL="682325" lvl="1" indent="-341162" algn="l">
              <a:lnSpc>
                <a:spcPts val="5056"/>
              </a:lnSpc>
              <a:buAutoNum type="arabicPeriod"/>
            </a:pPr>
            <a:r>
              <a:rPr lang="en-US" sz="316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Decision Making:</a:t>
            </a:r>
          </a:p>
          <a:p>
            <a:pPr marL="1364650" lvl="2" indent="-454883" algn="l">
              <a:lnSpc>
                <a:spcPts val="5056"/>
              </a:lnSpc>
              <a:buFont typeface="Arial"/>
              <a:buChar char="⚬"/>
            </a:pPr>
            <a:r>
              <a:rPr lang="en-US" sz="316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IF Score &gt; 10.0: </a:t>
            </a:r>
            <a:r>
              <a:rPr lang="en-US" sz="3160" i="1">
                <a:solidFill>
                  <a:srgbClr val="000000"/>
                </a:solidFill>
                <a:latin typeface="DM Serif Display Italics"/>
                <a:ea typeface="DM Serif Display Italics"/>
                <a:cs typeface="DM Serif Display Italics"/>
                <a:sym typeface="DM Serif Display Italics"/>
              </a:rPr>
              <a:t>RELAY = HIGH</a:t>
            </a:r>
            <a:r>
              <a:rPr lang="en-US" sz="316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(Therapy ON) &amp; </a:t>
            </a:r>
            <a:r>
              <a:rPr lang="en-US" sz="3160" i="1">
                <a:solidFill>
                  <a:srgbClr val="000000"/>
                </a:solidFill>
                <a:latin typeface="DM Serif Display Italics"/>
                <a:ea typeface="DM Serif Display Italics"/>
                <a:cs typeface="DM Serif Display Italics"/>
                <a:sym typeface="DM Serif Display Italics"/>
              </a:rPr>
              <a:t>Alert Cloud</a:t>
            </a:r>
            <a:r>
              <a:rPr lang="en-US" sz="316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.</a:t>
            </a:r>
          </a:p>
          <a:p>
            <a:pPr marL="1364650" lvl="2" indent="-454883" algn="l">
              <a:lnSpc>
                <a:spcPts val="5056"/>
              </a:lnSpc>
              <a:buFont typeface="Arial"/>
              <a:buChar char="⚬"/>
            </a:pPr>
            <a:r>
              <a:rPr lang="en-US" sz="316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IF Score &lt; 10.0: </a:t>
            </a:r>
            <a:r>
              <a:rPr lang="en-US" sz="3160" i="1">
                <a:solidFill>
                  <a:srgbClr val="000000"/>
                </a:solidFill>
                <a:latin typeface="DM Serif Display Italics"/>
                <a:ea typeface="DM Serif Display Italics"/>
                <a:cs typeface="DM Serif Display Italics"/>
                <a:sym typeface="DM Serif Display Italics"/>
              </a:rPr>
              <a:t>RELAY = LOW</a:t>
            </a:r>
            <a:r>
              <a:rPr lang="en-US" sz="316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(Therapy OFF) &amp; </a:t>
            </a:r>
            <a:r>
              <a:rPr lang="en-US" sz="3160" i="1">
                <a:solidFill>
                  <a:srgbClr val="000000"/>
                </a:solidFill>
                <a:latin typeface="DM Serif Display Italics"/>
                <a:ea typeface="DM Serif Display Italics"/>
                <a:cs typeface="DM Serif Display Italics"/>
                <a:sym typeface="DM Serif Display Italics"/>
              </a:rPr>
              <a:t>Log Normal</a:t>
            </a:r>
            <a:r>
              <a:rPr lang="en-US" sz="316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14400"/>
            <a:ext cx="11696700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Web Dashboard &amp; </a:t>
            </a:r>
            <a:r>
              <a:rPr lang="en-US" sz="6399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IoT</a:t>
            </a:r>
            <a:r>
              <a:rPr lang="en-US" sz="6399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Features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469853"/>
            <a:ext cx="16015812" cy="1596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Live Monitoring: View ECG, SpO2, and Temp from any phone/laptop on the WiFi network.</a:t>
            </a:r>
          </a:p>
          <a:p>
            <a:pPr algn="l">
              <a:lnSpc>
                <a:spcPts val="431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Visual Alert: The dashboard flashes RED when "Therapy Active."</a:t>
            </a:r>
          </a:p>
          <a:p>
            <a:pPr algn="l">
              <a:lnSpc>
                <a:spcPts val="431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Cloud Logging: Uses Google Apps Script to save data to Google Sheets for historical medical analysis.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/>
          <p:nvPr/>
        </p:nvGraphicFramePr>
        <p:xfrm>
          <a:off x="2611060" y="2958989"/>
          <a:ext cx="12134404" cy="69105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Worksheet" r:id="rId3" imgW="14554200" imgH="9334500" progId="Excel.Sheet.12">
                  <p:embed/>
                </p:oleObj>
              </mc:Choice>
              <mc:Fallback>
                <p:oleObj name="Worksheet" r:id="rId3" imgW="14554200" imgH="93345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11060" y="2958989"/>
                        <a:ext cx="12134404" cy="69105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2611060" y="914400"/>
            <a:ext cx="13065879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Cost Analysis (Prototype vs. Market)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166399" y="1233825"/>
            <a:ext cx="10399168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Team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671125" y="9151620"/>
            <a:ext cx="345047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09416" y="7243128"/>
            <a:ext cx="6069168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Harsh Sharma and Mayank Singh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718569" y="3787702"/>
            <a:ext cx="10850861" cy="2435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03"/>
              </a:lnSpc>
            </a:pPr>
            <a:r>
              <a:rPr lang="en-US" sz="14216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Questions???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485814" y="2762204"/>
            <a:ext cx="9316373" cy="2453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The End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80543" y="5328331"/>
            <a:ext cx="992691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518</Words>
  <Application>Microsoft Office PowerPoint</Application>
  <PresentationFormat>Custom</PresentationFormat>
  <Paragraphs>79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DM Serif Display</vt:lpstr>
      <vt:lpstr>DM Serif Display Italics</vt:lpstr>
      <vt:lpstr>Calibri</vt:lpstr>
      <vt:lpstr>Arial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Simple Minimalist Pitch Deck Marketing Presentation</dc:title>
  <cp:lastModifiedBy>Mayank Singh</cp:lastModifiedBy>
  <cp:revision>2</cp:revision>
  <dcterms:created xsi:type="dcterms:W3CDTF">2006-08-16T00:00:00Z</dcterms:created>
  <dcterms:modified xsi:type="dcterms:W3CDTF">2025-11-21T06:06:11Z</dcterms:modified>
  <dc:identifier>DAG5TN10isI</dc:identifier>
</cp:coreProperties>
</file>